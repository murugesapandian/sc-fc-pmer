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1E6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1E60"/>
                </a:solidFill>
                <a:latin typeface="Arial"/>
              </a:rPr>
              <a:t>Tasks by phase and status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</c:v>
                </c:pt>
              </c:strCache>
            </c:strRef>
          </c:tx>
          <c:spPr>
            <a:solidFill>
              <a:srgbClr val="2A870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1. Initiation</c:v>
                </c:pt>
                <c:pt idx="1">
                  <c:v>2. Planning &amp; Design</c:v>
                </c:pt>
                <c:pt idx="2">
                  <c:v>3. Build &amp; Configure</c:v>
                </c:pt>
                <c:pt idx="3">
                  <c:v>4. Site Readiness</c:v>
                </c:pt>
                <c:pt idx="4">
                  <c:v>5. Integration &amp; Testing</c:v>
                </c:pt>
                <c:pt idx="5">
                  <c:v>6. Training &amp; Change</c:v>
                </c:pt>
                <c:pt idx="6">
                  <c:v>7. Cutover &amp; Go-Live</c:v>
                </c:pt>
                <c:pt idx="7">
                  <c:v>8. Hypercare &amp; Close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43-3947-8775-E2EF85E31D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0053E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1. Initiation</c:v>
                </c:pt>
                <c:pt idx="1">
                  <c:v>2. Planning &amp; Design</c:v>
                </c:pt>
                <c:pt idx="2">
                  <c:v>3. Build &amp; Configure</c:v>
                </c:pt>
                <c:pt idx="3">
                  <c:v>4. Site Readiness</c:v>
                </c:pt>
                <c:pt idx="4">
                  <c:v>5. Integration &amp; Testing</c:v>
                </c:pt>
                <c:pt idx="5">
                  <c:v>6. Training &amp; Change</c:v>
                </c:pt>
                <c:pt idx="6">
                  <c:v>7. Cutover &amp; Go-Live</c:v>
                </c:pt>
                <c:pt idx="7">
                  <c:v>8. Hypercare &amp; Close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43-3947-8775-E2EF85E31D3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Started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1. Initiation</c:v>
                </c:pt>
                <c:pt idx="1">
                  <c:v>2. Planning &amp; Design</c:v>
                </c:pt>
                <c:pt idx="2">
                  <c:v>3. Build &amp; Configure</c:v>
                </c:pt>
                <c:pt idx="3">
                  <c:v>4. Site Readiness</c:v>
                </c:pt>
                <c:pt idx="4">
                  <c:v>5. Integration &amp; Testing</c:v>
                </c:pt>
                <c:pt idx="5">
                  <c:v>6. Training &amp; Change</c:v>
                </c:pt>
                <c:pt idx="6">
                  <c:v>7. Cutover &amp; Go-Live</c:v>
                </c:pt>
                <c:pt idx="7">
                  <c:v>8. Hypercare &amp; Close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15</c:v>
                </c:pt>
                <c:pt idx="2">
                  <c:v>17</c:v>
                </c:pt>
                <c:pt idx="3">
                  <c:v>9</c:v>
                </c:pt>
                <c:pt idx="4">
                  <c:v>9</c:v>
                </c:pt>
                <c:pt idx="5">
                  <c:v>7</c:v>
                </c:pt>
                <c:pt idx="6">
                  <c:v>9</c:v>
                </c:pt>
                <c:pt idx="7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43-3947-8775-E2EF85E31D3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2F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6350" cap="flat">
              <a:solidFill>
                <a:srgbClr val="E5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F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1E6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1E60"/>
                </a:solidFill>
                <a:latin typeface="Arial"/>
              </a:rPr>
              <a:t>Workstreams by health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87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B03-024F-8E88-CBD271FECEF1}"/>
              </c:ext>
            </c:extLst>
          </c:dPt>
          <c:dPt>
            <c:idx val="1"/>
            <c:bubble3D val="0"/>
            <c:spPr>
              <a:solidFill>
                <a:srgbClr val="E58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B03-024F-8E88-CBD271FECEF1}"/>
              </c:ext>
            </c:extLst>
          </c:dPt>
          <c:dPt>
            <c:idx val="2"/>
            <c:bubble3D val="0"/>
            <c:spPr>
              <a:solidFill>
                <a:srgbClr val="DE1C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B03-024F-8E88-CBD271FECEF1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B03-024F-8E88-CBD271FECEF1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B03-024F-8E88-CBD271FECEF1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B03-024F-8E88-CBD271FECEF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Green</c:v>
                </c:pt>
                <c:pt idx="1">
                  <c:v>Amber</c:v>
                </c:pt>
                <c:pt idx="2">
                  <c:v>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B03-024F-8E88-CBD271FECE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1E6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01E60"/>
                </a:solidFill>
                <a:latin typeface="Arial"/>
              </a:rPr>
              <a:t>Open RAID by severity (7)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RAID</c:v>
                </c:pt>
              </c:strCache>
            </c:strRef>
          </c:tx>
          <c:spPr>
            <a:solidFill>
              <a:srgbClr val="0053E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1E-5D40-9764-1C80651502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1E6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1E60"/>
                </a:solidFill>
                <a:latin typeface="Arial"/>
              </a:rPr>
              <a:t>Approved vs. committed vs. spent by category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Approved</c:v>
                </c:pt>
              </c:strCache>
            </c:strRef>
          </c:tx>
          <c:spPr>
            <a:solidFill>
              <a:srgbClr val="001E6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Building &amp; site fit-out</c:v>
                </c:pt>
                <c:pt idx="1">
                  <c:v>MHE automation</c:v>
                </c:pt>
                <c:pt idx="2">
                  <c:v>WMS / WCS software &amp; services</c:v>
                </c:pt>
                <c:pt idx="3">
                  <c:v>IT infrastructure</c:v>
                </c:pt>
                <c:pt idx="4">
                  <c:v>Integration &amp; data</c:v>
                </c:pt>
                <c:pt idx="5">
                  <c:v>Staffing, training &amp; change</c:v>
                </c:pt>
                <c:pt idx="6">
                  <c:v>PMO &amp; contingency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18.5</c:v>
                </c:pt>
                <c:pt idx="2">
                  <c:v>6</c:v>
                </c:pt>
                <c:pt idx="3">
                  <c:v>2.5</c:v>
                </c:pt>
                <c:pt idx="4">
                  <c:v>1.5</c:v>
                </c:pt>
                <c:pt idx="5">
                  <c:v>2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C0-7946-AE55-462EBCB1AE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Committed</c:v>
                </c:pt>
              </c:strCache>
            </c:strRef>
          </c:tx>
          <c:spPr>
            <a:solidFill>
              <a:srgbClr val="0053E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Building &amp; site fit-out</c:v>
                </c:pt>
                <c:pt idx="1">
                  <c:v>MHE automation</c:v>
                </c:pt>
                <c:pt idx="2">
                  <c:v>WMS / WCS software &amp; services</c:v>
                </c:pt>
                <c:pt idx="3">
                  <c:v>IT infrastructure</c:v>
                </c:pt>
                <c:pt idx="4">
                  <c:v>Integration &amp; data</c:v>
                </c:pt>
                <c:pt idx="5">
                  <c:v>Staffing, training &amp; change</c:v>
                </c:pt>
                <c:pt idx="6">
                  <c:v>PMO &amp; contingency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4.2</c:v>
                </c:pt>
                <c:pt idx="1">
                  <c:v>14.8</c:v>
                </c:pt>
                <c:pt idx="2">
                  <c:v>4.5999999999999996</c:v>
                </c:pt>
                <c:pt idx="3">
                  <c:v>0.6</c:v>
                </c:pt>
                <c:pt idx="4">
                  <c:v>0.3</c:v>
                </c:pt>
                <c:pt idx="5">
                  <c:v>0.1</c:v>
                </c:pt>
                <c:pt idx="6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C0-7946-AE55-462EBCB1AE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Spent to date</c:v>
                </c:pt>
              </c:strCache>
            </c:strRef>
          </c:tx>
          <c:spPr>
            <a:solidFill>
              <a:srgbClr val="FFC22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Building &amp; site fit-out</c:v>
                </c:pt>
                <c:pt idx="1">
                  <c:v>MHE automation</c:v>
                </c:pt>
                <c:pt idx="2">
                  <c:v>WMS / WCS software &amp; services</c:v>
                </c:pt>
                <c:pt idx="3">
                  <c:v>IT infrastructure</c:v>
                </c:pt>
                <c:pt idx="4">
                  <c:v>Integration &amp; data</c:v>
                </c:pt>
                <c:pt idx="5">
                  <c:v>Staffing, training &amp; change</c:v>
                </c:pt>
                <c:pt idx="6">
                  <c:v>PMO &amp; contingency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0.9</c:v>
                </c:pt>
                <c:pt idx="1">
                  <c:v>0.4</c:v>
                </c:pt>
                <c:pt idx="2">
                  <c:v>0.5</c:v>
                </c:pt>
                <c:pt idx="3">
                  <c:v>0.1</c:v>
                </c:pt>
                <c:pt idx="4">
                  <c:v>0.05</c:v>
                </c:pt>
                <c:pt idx="5">
                  <c:v>0.05</c:v>
                </c:pt>
                <c:pt idx="6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C0-7946-AE55-462EBCB1A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E2F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$M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F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4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opening: program is Green at the end of Initiation; charter, budget and governance approved; two decisions are needed today (vendor contract release and Wi-Fi scope change). Everything in this deck is generated from the Tracking Playbook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banner, then the three columns left to right. Spend most of the time on the decisions column — the rest of the deck is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maps to a Dashboard cell. The 6% complete is expected — we are one month into a twelve-month program; the meaningful signals are zero overdue and the two High RAID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chart — data is copied from the Dashboard phase table. Point out that the two largest phases are next, which is why vendor contract release today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1 is amber only because the vendor shortlist item is still in progress; it closes at next week's steering committee. All other gates are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% = tasks complete / tasks linked, from the Objectives sheet. Be transparent that the tracker formula says On Track for OBJ-03 and the PMO is overriding to At Risk based on the open High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 is a PMO assessment combining tracker status with open RAID items — amber workstreams each have one High/Medium risk or an open decision, not slipped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R-001 and I-005 — both are resolved by the decisions on slide 10. The rest are managed inside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budget figures are sample values for the report-out format; replace with Finance actuals each month. The structure — approved, committed, spent, forecast, variance drivers — should stay the same so the SVP audience sees the same shape every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get to within five minutes. Ask for each decision explicitly and record the outcome in the Action Log before leaving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commitments the PMO is making for next month — they become the first slide of the next report-out.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— use only if asked about Gate 1 detail or how the numbers are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001E60"/>
          </a:solidFill>
          <a:ln w="12700">
            <a:solidFill>
              <a:srgbClr val="001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822960"/>
            <a:ext cx="2743200" cy="2743200"/>
          </a:xfrm>
          <a:prstGeom prst="ellipse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15087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DC Program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94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C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 / WCS / Automation Go-Live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Leadership Report-Out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period: Month 1 — Initiation  |  Program status: GREEN  |  Prepared for: Fulfillment Leadership / SVP Review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D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Program Management Office  |  Confidential —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page: where we are, what changed, what we need from you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6F4FC"/>
          </a:solidFill>
          <a:ln w="12700">
            <a:solidFill>
              <a:srgbClr val="E6F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8191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A8703"/>
          </a:solidFill>
          <a:ln w="12700">
            <a:solidFill>
              <a:srgbClr val="2A8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3716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program status: ON TRACK.  </a:t>
            </a:r>
            <a:r>
              <a:rPr lang="en-US" sz="12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Initiation phase 71% complete; Gate 1 closes next week. 388 days to target go-live (03-Oct-27). Budget forecast +1.9% vs. approved (within ±5% tolerance).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2A8703"/>
          </a:solidFill>
          <a:ln w="12700">
            <a:solidFill>
              <a:srgbClr val="2A8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57860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Accomplished this month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06324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Charter, budget baseline ($45.5M) and governance model approved by sponsor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register and RACI established — 20 leads, 81 tasks traced to 8 objectives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master plan drafted; critical path runs through MHE manufacture → install → throughput test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 pre-submission meeting booked (action closed)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228600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26280" y="2468880"/>
            <a:ext cx="457200" cy="457200"/>
          </a:xfrm>
          <a:prstGeom prst="ellipse">
            <a:avLst/>
          </a:prstGeom>
          <a:solidFill>
            <a:srgbClr val="E58C00"/>
          </a:solidFill>
          <a:ln w="12700">
            <a:solidFill>
              <a:srgbClr val="E5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257860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2064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items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306324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MHE vendor lead-time risk (High) — component shortages could move install by 2–4 weeks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coverage gaps in mezzanine (High issue) — design revision in progress, +$0.3M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 approval timing (Medium) — mitigated via expediter and pre-submission review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open RAID items, all owned and dated; 2 open actions, none overdue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46720" y="228600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275320" y="2468880"/>
            <a:ext cx="457200" cy="457200"/>
          </a:xfrm>
          <a:prstGeom prst="ellipse">
            <a:avLst/>
          </a:prstGeom>
          <a:solidFill>
            <a:srgbClr val="0053E2"/>
          </a:solidFill>
          <a:ln w="127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57860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86968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 today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275320" y="306324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MHE and WMS vendor contracts ($24.5M committed) to lock manufacturing slots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Wi-Fi design change (+$0.3M from contingency)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early recruiting start (4 weeks ahead) to de-risk go-live staffing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AI Copilot use for status, RAID and gate audits across the program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DC — WMS / WCS / Automation Go-Live  |  Monthly Leadership Report-Out  |  Source: Tracking Playbook (Dashboard, Master Plan, RAID Log)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at a glance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KPIs from the Tracking Playbook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37560" y="1645920"/>
            <a:ext cx="548640" cy="548640"/>
          </a:xfrm>
          <a:prstGeom prst="ellipse">
            <a:avLst/>
          </a:prstGeom>
          <a:solidFill>
            <a:srgbClr val="0053E2"/>
          </a:solidFill>
          <a:ln w="127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234" y="17775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388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go-live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03-Oct-27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417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086600" y="1645920"/>
            <a:ext cx="548640" cy="548640"/>
          </a:xfrm>
          <a:prstGeom prst="ellipse">
            <a:avLst/>
          </a:prstGeom>
          <a:solidFill>
            <a:srgbClr val="2A8703"/>
          </a:solidFill>
          <a:ln w="12700">
            <a:solidFill>
              <a:srgbClr val="2A8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274" y="17775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complete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81 tasks; 3 in progress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1417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0835640" y="1645920"/>
            <a:ext cx="548640" cy="548640"/>
          </a:xfrm>
          <a:prstGeom prst="ellipse">
            <a:avLst/>
          </a:prstGeom>
          <a:solidFill>
            <a:srgbClr val="2A8703"/>
          </a:solidFill>
          <a:ln w="12700">
            <a:solidFill>
              <a:srgbClr val="2A8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7314" y="177759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overdue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at risk, 0 blocked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703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337560" y="3931920"/>
            <a:ext cx="548640" cy="548640"/>
          </a:xfrm>
          <a:prstGeom prst="ellipse">
            <a:avLst/>
          </a:prstGeom>
          <a:solidFill>
            <a:srgbClr val="E58C00"/>
          </a:solidFill>
          <a:ln w="12700">
            <a:solidFill>
              <a:srgbClr val="E5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9234" y="406359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22960" y="3886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RAID items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High severity — see Risks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297680" y="3703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086600" y="3931920"/>
            <a:ext cx="548640" cy="548640"/>
          </a:xfrm>
          <a:prstGeom prst="ellipse">
            <a:avLst/>
          </a:prstGeom>
          <a:solidFill>
            <a:srgbClr val="2A8703"/>
          </a:solidFill>
          <a:ln w="12700">
            <a:solidFill>
              <a:srgbClr val="2A8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8274" y="406359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572000" y="3886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+1.9%</a:t>
            </a:r>
            <a:endParaRPr lang="en-US" sz="40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forecast vs. plan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$46.4M FAC vs. $45.5M approved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046720" y="3703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10835640" y="3931920"/>
            <a:ext cx="548640" cy="548640"/>
          </a:xfrm>
          <a:prstGeom prst="ellipse">
            <a:avLst/>
          </a:prstGeom>
          <a:solidFill>
            <a:srgbClr val="E58C00"/>
          </a:solidFill>
          <a:ln w="12700">
            <a:solidFill>
              <a:srgbClr val="E5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7314" y="4063594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321040" y="3886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4000" dirty="0"/>
          </a:p>
        </p:txBody>
      </p:sp>
      <p:sp>
        <p:nvSpPr>
          <p:cNvPr id="38" name="Text 30"/>
          <p:cNvSpPr txBox="1"/>
          <p:nvPr/>
        </p:nvSpPr>
        <p:spPr>
          <a:xfrm>
            <a:off x="832104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passed (pending)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832104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1: 5 of 6 items complete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legend: Green = on plan  ·  Amber = needs attention / decision  ·  Red = off plan. Budget figures are illustrative pending Finance close.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DC — WMS / WCS / Automation Go-Live  |  Monthly Leadership Report-Out  |  Source: Tracking Playbook (Dashboard, Master Plan, RAID Log)</a:t>
            </a:r>
            <a:endParaRPr lang="en-US" sz="800" dirty="0"/>
          </a:p>
        </p:txBody>
      </p:sp>
      <p:sp>
        <p:nvSpPr>
          <p:cNvPr id="42" name="Text 3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by phase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completion against the 81-task master plan — stacked by status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371600"/>
            <a:ext cx="3840480" cy="4846320"/>
          </a:xfrm>
          <a:prstGeom prst="roundRect">
            <a:avLst>
              <a:gd name="adj" fmla="val 1905"/>
            </a:avLst>
          </a:prstGeom>
          <a:solidFill>
            <a:srgbClr val="E6F4FC"/>
          </a:solidFill>
          <a:ln w="9525">
            <a:solidFill>
              <a:srgbClr val="E6F4FC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0467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011680"/>
            <a:ext cx="3383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Initiation is 71% complete (5 of 7); Gate 1 review and vendor shortlist finish this week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Design has started early — integrated master plan is in progress ahead of Gate 1 closure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Configure (17 tasks) and Planning &amp; Design (16) carry 41% of all work — the next two quarters are the heaviest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task is overdue, at risk or blocked; health is Green across all active tasks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path: MHE manufacture (wk 12–24) → install (wk 26–32) → throughput test (wk 34–37) → go-live (wk 44)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DC — WMS / WCS / Automation Go-Live  |  Monthly Leadership Report-Out  |  Source: Tracking Playbook (Dashboard, Master Plan, RAID Log)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roadmap to go-live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Completeness Gates — a phase cannot close with open checklist items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3000" y="3063240"/>
            <a:ext cx="10369296" cy="0"/>
          </a:xfrm>
          <a:prstGeom prst="line">
            <a:avLst/>
          </a:prstGeom>
          <a:noFill/>
          <a:ln w="5080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3063240"/>
            <a:ext cx="320040" cy="0"/>
          </a:xfrm>
          <a:prstGeom prst="line">
            <a:avLst/>
          </a:prstGeom>
          <a:noFill/>
          <a:ln w="50800">
            <a:solidFill>
              <a:srgbClr val="2A8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FFC220"/>
          </a:solidFill>
          <a:ln w="254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01-Nov-26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04288" y="2743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30428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27-Dec-26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85616" y="2743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785616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19856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04-Apr-27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66944" y="2743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266944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ready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06-Jun-27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48272" y="2743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748272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11-Jul-27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2743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2296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ready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25-Jul-27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710928" y="2743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71092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345168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345168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15-Aug-27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1192256" y="2743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1192256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G8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826496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826496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03-Oct-27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25880" y="2103120"/>
            <a:ext cx="0" cy="548640"/>
          </a:xfrm>
          <a:prstGeom prst="line">
            <a:avLst/>
          </a:prstGeom>
          <a:noFill/>
          <a:ln w="19050">
            <a:solidFill>
              <a:srgbClr val="DE1C2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4008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E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(Month 1)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48056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82296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 on the critical path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0053E2"/>
          </a:solidFill>
          <a:ln w="127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822960" y="5285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contracts executed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22960" y="5715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Dec-26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633472" y="5074920"/>
            <a:ext cx="146304" cy="146304"/>
          </a:xfrm>
          <a:prstGeom prst="ellipse">
            <a:avLst/>
          </a:prstGeom>
          <a:solidFill>
            <a:srgbClr val="0053E2"/>
          </a:solidFill>
          <a:ln w="127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2633472" y="5285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MHE equipment on site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2633472" y="5715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Mar-27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43984" y="5074920"/>
            <a:ext cx="146304" cy="146304"/>
          </a:xfrm>
          <a:prstGeom prst="ellipse">
            <a:avLst/>
          </a:prstGeom>
          <a:solidFill>
            <a:srgbClr val="0053E2"/>
          </a:solidFill>
          <a:ln w="127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4443984" y="5285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occupancy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443984" y="5715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Jun-27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54496" y="5074920"/>
            <a:ext cx="146304" cy="146304"/>
          </a:xfrm>
          <a:prstGeom prst="ellipse">
            <a:avLst/>
          </a:prstGeom>
          <a:solidFill>
            <a:srgbClr val="0053E2"/>
          </a:solidFill>
          <a:ln w="127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6254496" y="5285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acceptance ≥95%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254496" y="5715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Jul-27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065008" y="5074920"/>
            <a:ext cx="146304" cy="146304"/>
          </a:xfrm>
          <a:prstGeom prst="ellipse">
            <a:avLst/>
          </a:prstGeom>
          <a:solidFill>
            <a:srgbClr val="0053E2"/>
          </a:solidFill>
          <a:ln w="127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8065008" y="5285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decision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065008" y="5715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Aug-27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875520" y="5074920"/>
            <a:ext cx="146304" cy="146304"/>
          </a:xfrm>
          <a:prstGeom prst="ellipse">
            <a:avLst/>
          </a:prstGeom>
          <a:solidFill>
            <a:srgbClr val="0053E2"/>
          </a:solidFill>
          <a:ln w="127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9875520" y="5285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go-live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875520" y="5715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Aug-27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DC — WMS / WCS / Automation Go-Live  |  Monthly Leadership Report-Out  |  Source: Tracking Playbook (Dashboard, Master Plan, RAID Log)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 scorecard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objectives, key results and current status — traced to tasks in the master plan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result / measure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OBJ-01  Open the greenfield DC on schedule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go-live by 03-Oct-27; cutover within window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OBJ-02  WMS / WCS stack with no Sev-1 at go-live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open Sev-1 at go / no-go; SIT and UAT exit criteria met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OBJ-03  Automation at design throughput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 acceptance ≥ 95% of design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OBJ-04  Trained, certified workforce before first receipt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of go-live associates certified; supervisors signed off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OBJ-05  Site, safety and regulatory readiness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 of occupancy; fire, OSHA, equipment sign-offs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OBJ-06  Inbound / outbound network connected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 partners live; carriers onboarded; first shipments executed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OBJ-07  Deliver within approved budget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spend within ±5% of $45.5M at close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OBJ-08  Stabilise and hand over to run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Hypercare exit met; lessons learned published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OBJ-03 flagged At Risk by PMO judgement (tracker shows On Track): </a:t>
            </a:r>
            <a:r>
              <a:rPr lang="en-US" sz="11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High-severity MHE lead-time risk (R-001) sits directly on the throughput objective. Contract release today is the mitigation.</a:t>
            </a:r>
            <a:endParaRPr lang="en-US" sz="11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DC — WMS / WCS / Automation Go-Live  |  Monthly Leadership Report-Out  |  Source: Tracking Playbook (Dashboard, Master Plan, RAID Log)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health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Leads, load and status across the 13 active workstreams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460857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Workstream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 / In prog.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this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/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1 close, master plan baseline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&amp;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 catalogue starts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&amp; Staffing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recruiting decision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(MHE)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lead-time risk; contract release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&amp; Training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plan due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strategy due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Readiness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Permits in pre-submission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starts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Cutover &amp; Go-Live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Shortlist closing; contracts to sign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approved; monthly capex review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Wi-Fi gap issue (I-005)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Hypercare &amp; Close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8229600" y="1371600"/>
          <a:ext cx="3383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8229600" y="44805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E6F4FC"/>
          </a:solidFill>
          <a:ln w="9525">
            <a:solidFill>
              <a:srgbClr val="E6F4FC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845820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drivers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8458200" y="49377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MHE lead time (R-001)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coverage (I-005)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hiring (R-006)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contract timing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DC — WMS / WCS / Automation Go-Live  |  Monthly Leadership Report-Out  |  Source: Tracking Playbook (Dashboard, Master Plan, RAID Log)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and issues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RAID log — 7 open items, ranked by probability × impact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/ mitigation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MHE vendor manufacturing lead time may slip (component shortages)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1C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vendor milestone review; alternate drive suppliers; 2-week schedule buffer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28-Dec-26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I-005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Wi-Fi survey found coverage gaps in mezzanine 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Infra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1C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access points to design; revise budget (+$0.3M) — decision requested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07-Dec-26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D-004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WMS SIT depends on vendor WCS emulation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/ Test Mgr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Contractual milestone; fallback manual stubs if 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05-Apr-27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labour market may not support go-live hiring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Recruit 4 weeks earlier; agency backup; referral programme — decision requested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03-May-27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 approval delays could push construction 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Facilities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Pre-submission meeting booked; expediter engaged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30-Nov-26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548640" y="5029200"/>
          <a:ext cx="36576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480560" y="502920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E6F4FC"/>
          </a:solidFill>
          <a:ln w="9525">
            <a:solidFill>
              <a:srgbClr val="E6F4FC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09160" y="51206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shown: </a:t>
            </a:r>
            <a:r>
              <a:rPr lang="en-US" sz="10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A-003 ERP standard APIs (Low, validating in design workshop) and D-007 carrier TMS lanes before EDI test (Low, sequenced). All 7 items have an owner and due date; none overdue. Two High items are the only ones requiring leadership decisions.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DC — WMS / WCS / Automation Go-Live  |  Monthly Leadership Report-Out  |  Source: Tracking Playbook (Dashboard, Master Plan, RAID Log)</a:t>
            </a:r>
            <a:endParaRPr lang="en-US" sz="800" dirty="0"/>
          </a:p>
        </p:txBody>
      </p:sp>
      <p:sp>
        <p:nvSpPr>
          <p:cNvPr id="4" name="Text 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and forecast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$45.5M capex baseline — illustrative figures pending Finance month-end close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7665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371600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72400" y="13716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$45.5M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137160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baseline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9520" y="2048256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0" y="204825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$25.0M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509760" y="204825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(55%)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2724912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0" y="272491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$2.1M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509760" y="272491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to date (5%)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89520" y="3401568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772400" y="340156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$46.4M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509760" y="340156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at completion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589520" y="4078224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72400" y="407822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+$0.9M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509760" y="407822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(+1.9%)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6766560" cy="1316736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driver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MHE — expedite fee to protect manufacturing slot (R-001)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infrastructure — additional Wi-Fi access points (I-005)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53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requested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Funded from PMO &amp; contingency ($3.0M) — remaining after both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tolerance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7589520" y="48463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6F4FC"/>
          </a:solidFill>
          <a:ln w="9525">
            <a:solidFill>
              <a:srgbClr val="E6F4FC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7772400" y="49377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</a:t>
            </a:r>
            <a:r>
              <a:rPr lang="en-US" sz="10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$24.5M vendor commitments (MHE $14.8M, WMS $4.6M, construction $4.2M, other $0.9M) this month to hold manufacturing and install slots. Delay of one month moves go-live risk from Amber to Red.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DC — WMS / WCS / Automation Go-Live  |  Monthly Leadership Report-Out  |  Source: Tracking Playbook (Dashboard, Master Plan, RAID Log)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 from leadership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decisions; each has a recommendation and a cost of delay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0B2A6E"/>
          </a:solidFill>
          <a:ln w="12700">
            <a:solidFill>
              <a:srgbClr val="0B2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5727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MHE and WMS vendor contracts ($24.5M)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659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C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Recommend: APPROVE now.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5727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manufacturing slot and install window; mitigates R-001. Each month of delay moves go-live by ~1 month.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424160" y="157276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D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/ Finance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0B2A6E"/>
          </a:solidFill>
          <a:ln w="12700">
            <a:solidFill>
              <a:srgbClr val="0B2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2944368"/>
            <a:ext cx="548640" cy="548640"/>
          </a:xfrm>
          <a:prstGeom prst="ellipse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77977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Wi-Fi design change (+$0.3M from contingency)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1729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C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Recommend: APPROVE.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77977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High issue I-005 before network install; contingency remains $2.1M after all known variances.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424160" y="2779776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D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/ 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0B2A6E"/>
          </a:solidFill>
          <a:ln w="12700">
            <a:solidFill>
              <a:srgbClr val="0B2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4151376"/>
            <a:ext cx="548640" cy="548640"/>
          </a:xfrm>
          <a:prstGeom prst="ellipse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7240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98678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go-live recruiting 4 weeks early (Mar-27 vs. Apr-27)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37997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C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Recommend: APPROVE.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98678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~$0.1M opex; removes the largest people risk (R-006) ahead of training and dress rehearsal.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0" y="3986784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D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/ HR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084064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0B2A6E"/>
          </a:solidFill>
          <a:ln w="12700">
            <a:solidFill>
              <a:srgbClr val="0B2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" y="5358384"/>
            <a:ext cx="548640" cy="548640"/>
          </a:xfrm>
          <a:prstGeom prst="ellipse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77240" y="5358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1937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AI Copilot for status, RAID and gate audits program-wide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554480" y="558698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C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Recommend: APPROVE (pilot already in use by PMO).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51937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reporting effort 40–50%; every gate audited against checklist so nothing is missed. No incremental cost — existing licences.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424160" y="519379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D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SVP Fulfillment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D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path forward — next 30 days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program will deliver by the next report-out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2A8703"/>
          </a:solidFill>
          <a:ln w="12700">
            <a:solidFill>
              <a:srgbClr val="2A8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7209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out Initiation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Gate 1 at steering committee (vendor shortlist complete)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the integrated master plan and RAID log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vendor contracts on approval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55848" y="137160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84448" y="1600200"/>
            <a:ext cx="502920" cy="502920"/>
          </a:xfrm>
          <a:prstGeom prst="ellipse">
            <a:avLst/>
          </a:prstGeom>
          <a:solidFill>
            <a:srgbClr val="0053E2"/>
          </a:solidFill>
          <a:ln w="12700">
            <a:solidFill>
              <a:srgbClr val="005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149" y="17209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84448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Planning &amp; Design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27432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design and permit submissions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 fit-gap workshops start; functional design by Dec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layout and throughput model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catalogue and data migration strategy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63056" y="137160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91656" y="1600200"/>
            <a:ext cx="502920" cy="502920"/>
          </a:xfrm>
          <a:prstGeom prst="ellipse">
            <a:avLst/>
          </a:prstGeom>
          <a:solidFill>
            <a:srgbClr val="E58C00"/>
          </a:solidFill>
          <a:ln w="12700">
            <a:solidFill>
              <a:srgbClr val="E5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2357" y="172090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91656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the two High items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391656" y="27432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R-001: vendor milestone plan and alternate drive suppliers confirmed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I-005: revised Wi-Fi design issued; APs ordered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exception review on all RAID items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70264" y="137160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198864" y="1600200"/>
            <a:ext cx="502920" cy="502920"/>
          </a:xfrm>
          <a:prstGeom prst="ellipse">
            <a:avLst/>
          </a:prstGeom>
          <a:solidFill>
            <a:srgbClr val="001E60"/>
          </a:solidFill>
          <a:ln w="12700">
            <a:solidFill>
              <a:srgbClr val="001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9565" y="172090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98864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AI Copilot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198864" y="27432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 checklist audit automated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status drafted from the tracker dashboard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actions captured to Action Log automatically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6F4FC"/>
          </a:solidFill>
          <a:ln w="12700">
            <a:solidFill>
              <a:srgbClr val="E6F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report-out (Month 2): </a:t>
            </a:r>
            <a:r>
              <a:rPr lang="en-US" sz="11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 passed, contracts executed, Planning &amp; Design ≥ 40% complete, both High RAID items downgraded or closed, budget forecast refreshed with Finance actuals.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DC — WMS / WCS / Automation Go-Live  |  Monthly Leadership Report-Out  |  Source: Tracking Playbook (Dashboard, Master Plan, RAID Log)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Gate 1 checklist and open actions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behind the Initiation status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2688336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1 — Initiation checklist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charter approved by sponsor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baseline approved and funding released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Stakeholder register complete with escalation paths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 committee cadence and RAID log established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checklists and templates loaded into PM tool / AI Copilot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shortlist and SOW status confirmed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status: OPEN — 1 item (5 of 6 complete). Expected to pass 01-Nov-26.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6400800" cy="146304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alternate supplier options for conveyor drives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Procurement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02-Nov-26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58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Circulate revised Wi-Fi design with additional access points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Infra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53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 pre-submission meeting with permitting authority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F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A870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15200" y="1371600"/>
            <a:ext cx="4297680" cy="4846320"/>
          </a:xfrm>
          <a:prstGeom prst="roundRect">
            <a:avLst>
              <a:gd name="adj" fmla="val 1702"/>
            </a:avLst>
          </a:prstGeom>
          <a:solidFill>
            <a:srgbClr val="E6F4FC"/>
          </a:solidFill>
          <a:ln w="9525">
            <a:solidFill>
              <a:srgbClr val="E6F4FC"/>
            </a:solidFill>
            <a:prstDash val="solid"/>
          </a:ln>
          <a:effectLst>
            <a:outerShdw blurRad="381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75438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report is produced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543800" y="201168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source: the Greenfield Tracking Playbook workbook (Dashboard, Master Plan, RACI, Gate Checklists, RAID, Action Log)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update status weekly; the AI Copilot flags stale tasks, drafts the status narrative and audits gate checklists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reviews exceptions only; PM approves every number before it reaches this deck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structure every month: summary → KPIs → phase → OKRs → workstreams → risks → budget → decisions → next 30 days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figures shown are illustrative until replaced with Finance actuals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DC — WMS / WCS / Automation Go-Live  |  Monthly Leadership Report-Out  |  Source: Tracking Playbook (Dashboard, Master Plan, RAID Log)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2637</Words>
  <Application>Microsoft Macintosh PowerPoint</Application>
  <PresentationFormat>Widescreen</PresentationFormat>
  <Paragraphs>422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Greenfield DC Program — Monthly Leadership Report-Out</dc:title>
  <dc:subject>PptxGenJS Presentation</dc:subject>
  <dc:creator>PMO</dc:creator>
  <cp:lastModifiedBy>vidhyasreeuwu@gmail.com</cp:lastModifiedBy>
  <cp:revision>1</cp:revision>
  <dcterms:created xsi:type="dcterms:W3CDTF">2026-09-10T04:01:01Z</dcterms:created>
  <dcterms:modified xsi:type="dcterms:W3CDTF">2026-09-10T04:44:04Z</dcterms:modified>
</cp:coreProperties>
</file>